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67" r:id="rId5"/>
    <p:sldId id="268" r:id="rId6"/>
    <p:sldId id="279" r:id="rId7"/>
    <p:sldId id="278" r:id="rId8"/>
    <p:sldId id="280" r:id="rId9"/>
    <p:sldId id="260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EB480-F77B-4AED-A77B-41813B2FF5A7}" type="datetimeFigureOut">
              <a:t>25/09/2026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4C96C-906D-41A4-9518-8068CD024BEB}" type="slidenum"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3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14C96C-906D-41A4-9518-8068CD024BEB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23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A1CD0C-2133-1BEB-B1D0-2B5BA87B05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66585A-B9A6-1153-1B3F-631F77B9A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9C95B5-498E-3803-3AB8-D8181146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46A4F-18F9-461D-9222-89CEE5C6C32B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CE6B0-210F-8232-7203-DEA42DC07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824E0D-E6C8-44AF-E902-56158D2A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955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D6C11-2F68-0AA4-5D2D-B5D81CA2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A774E-F425-9451-2AD3-69C4CA34E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D38164-B509-50D7-F133-B0D241A21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06D05-C7AE-49B1-ADCA-CCC9EDEE11F4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201D6-698C-F87A-E87B-90B388650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D4390E-5080-AE27-848F-DE99B7E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099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1F43B-6F90-3C9A-721D-847746D81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2805D2-D47A-E1C0-302A-7BB9D046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1E4870-6C61-F8D6-F30F-159BDEB9A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1A9FB-B447-49A5-96A8-C80DD90DA570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712B1C-6462-CA09-DD85-B9A010829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22A97A-0F17-7FD2-212C-3029940C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3719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E161EC-0316-6F85-1E61-6DBCB4028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D347F2-FC82-C076-01DE-0936CFC48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B0F09E2-86C5-D68C-6770-CC9276E30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5216C7-A653-7989-EBE3-82E43695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83F15-44CB-40B6-9AE9-0918D7F6AF4C}" type="datetime1">
              <a:rPr lang="es-CO" smtClean="0"/>
              <a:t>25/09/2026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0FA8D9-DD0C-08C2-5C81-28054EF0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D9524B-2360-C1E7-0478-D6A0D2AE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838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68BE79-344B-3711-264F-57C7E63A5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9CC3AA-8215-056C-2A41-E56566F9C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211A87-89E2-5D25-B2ED-57078C2B6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E39C36-017C-3060-41E0-299B3450A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D890FD3-2935-8032-0EB3-1FC3B8C2E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5CADFA3-E82F-0317-AD8F-8D23EC41A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90415-9D06-4090-8ABA-D918B2D3C62D}" type="datetime1">
              <a:rPr lang="es-CO" smtClean="0"/>
              <a:t>25/09/2026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C88C78A-5B6C-10FA-EDF0-695E7063D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B40355-4549-A31B-969F-3574C6ED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17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ED56A-4167-233A-B17A-4EA99DEAB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0ECB5D-9483-99FF-8340-A5AFB86E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EEC99-D95C-4F8A-9C6D-23149DE0D2AF}" type="datetime1">
              <a:rPr lang="es-CO" smtClean="0"/>
              <a:t>25/09/2026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DB8DE2-7185-0915-7BC7-2E69A4AC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A605D0-CE9B-9FAD-2423-243602F2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9957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A0CC1B-120C-0F49-D36D-BAEA60A7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2F7CF-0212-4407-87F3-C344CE8980BA}" type="datetime1">
              <a:rPr lang="es-CO" smtClean="0"/>
              <a:t>25/09/2026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8C13FED-D615-8DC2-101D-1DF2E4E4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1C7337-BFDB-B02E-ABB0-E5F834885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1117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E25C8-728A-6BA2-6934-E8192C5A9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B3D7EC-3401-B428-49CE-0A834F813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0D5D9E-91E8-3A0F-1BBA-D22CF9A40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1744F7-4977-D716-D08F-2D943793C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8529D-1A3C-45D7-BED8-2AA5B789802B}" type="datetime1">
              <a:rPr lang="es-CO" smtClean="0"/>
              <a:t>25/09/2026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CCF612-0764-A237-6897-F89156583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E1CE97-CEF7-7A2A-C0E7-BF3ECF1BD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514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BF6FF-9D40-4E22-423A-24BCED9DC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AE2320-1EF8-003E-2F6F-991A9E8BE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8EBBEE-3BC4-8972-A192-830C1E66C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28B12D-1D38-E41C-6803-3FE1E40E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BB3B6-8A66-4D6C-9467-112133AE84DD}" type="datetime1">
              <a:rPr lang="es-CO" smtClean="0"/>
              <a:t>25/09/2026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3D7CE7-FABD-36B4-343A-099F0634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4B1085-6A7E-F994-332B-F9D4ED7A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646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D6CD1-97A6-41D4-28AA-B32F657D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EF27E2-E27E-149C-BC2C-E16CF5B6A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5D596B-F08E-D8DC-3217-046FC7894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8B7EE-56AD-4C07-8E26-619BDC1AE34A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465918-6A68-CE14-D808-1B90E20C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AD175A-B95F-2937-C436-441D1C53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542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D52D2DB-EFA7-98E3-90EE-8EB3AA390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46938F-F1E8-0110-3C15-B607291B8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93203-DCE5-F0FB-F797-60563B5B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1B2A8D-CE10-4159-9B4F-5C25E7A94D4A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4442C7-77F8-3A9E-4D25-ED66E61FB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A383B7-3672-B332-2E2D-96ABBFE58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5844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5E03C0-4FF8-9B66-804E-9DB25FA25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E8E20-C9F3-92B2-BB3C-35445007D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CDC47-BF3C-C07C-BF61-73B5ECC9B5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CB33F-E2FA-4017-94EB-A465DF764609}" type="datetime1">
              <a:rPr lang="es-CO" smtClean="0"/>
              <a:t>25/09/2026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BD969-ED41-AF96-E758-7B89E1583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DA31B0-02B2-5B64-BD04-BA5B0FF61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C5FCB-2CC7-48C1-940A-19DB903A0D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3198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bserver_patter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refactoring.guru/es/design-patterns/observer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7BFA4CA-B9E0-46E2-7D90-68EC6C9199D2}"/>
              </a:ext>
            </a:extLst>
          </p:cNvPr>
          <p:cNvSpPr txBox="1"/>
          <p:nvPr/>
        </p:nvSpPr>
        <p:spPr>
          <a:xfrm>
            <a:off x="5355771" y="2572379"/>
            <a:ext cx="7248211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5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Patrones de diseño: </a:t>
            </a:r>
            <a:r>
              <a:rPr lang="es-CO" sz="3500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Observer</a:t>
            </a:r>
            <a:endParaRPr lang="es-CO" sz="35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7778F3-8D27-7038-9A7B-DC089F793344}"/>
              </a:ext>
            </a:extLst>
          </p:cNvPr>
          <p:cNvSpPr txBox="1"/>
          <p:nvPr/>
        </p:nvSpPr>
        <p:spPr>
          <a:xfrm>
            <a:off x="7925247" y="5843743"/>
            <a:ext cx="426675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i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Ximena Naranjo Arias, Ing. </a:t>
            </a:r>
            <a:r>
              <a:rPr lang="es-CO" i="1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Sistemas.</a:t>
            </a:r>
            <a:endParaRPr lang="es-CO" i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9EAFFE-6059-57A2-B0EE-D1C0FCE3AE94}"/>
              </a:ext>
            </a:extLst>
          </p:cNvPr>
          <p:cNvSpPr txBox="1"/>
          <p:nvPr/>
        </p:nvSpPr>
        <p:spPr>
          <a:xfrm>
            <a:off x="6096000" y="4118182"/>
            <a:ext cx="4266753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i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Programación orientada a Objetos.</a:t>
            </a:r>
            <a:endParaRPr lang="es-CO" i="1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67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19F30A-42D8-A2DC-4EE8-D256F8BDDDE7}"/>
              </a:ext>
            </a:extLst>
          </p:cNvPr>
          <p:cNvSpPr txBox="1"/>
          <p:nvPr/>
        </p:nvSpPr>
        <p:spPr>
          <a:xfrm>
            <a:off x="484832" y="808454"/>
            <a:ext cx="866312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¿En qué consiste este patrón?</a:t>
            </a:r>
            <a:endParaRPr lang="es-CO" sz="3600" b="1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66716-9723-1F00-F1F6-9E9AA204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2</a:t>
            </a:fld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A955EB-2742-CEFE-37E9-57F7235860AE}"/>
              </a:ext>
            </a:extLst>
          </p:cNvPr>
          <p:cNvSpPr txBox="1"/>
          <p:nvPr/>
        </p:nvSpPr>
        <p:spPr>
          <a:xfrm>
            <a:off x="484832" y="2001347"/>
            <a:ext cx="109992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dirty="0"/>
              <a:t>El patrón </a:t>
            </a:r>
            <a:r>
              <a:rPr lang="es-CO" dirty="0">
                <a:hlinkClick r:id="rId3"/>
              </a:rPr>
              <a:t>Observer</a:t>
            </a:r>
            <a:r>
              <a:rPr lang="es-CO" dirty="0"/>
              <a:t> define una dependencia uno-a-muchos entre objetos, de modo que cuando uno cambia de estado todos sus observadores son notificados y actualizados automáticamente. Se basa en una suscripción desacoplada que permite reaccionar a eventos sin que el emisor conozca detalles de los receptores.</a:t>
            </a:r>
            <a:endParaRPr lang="es-CO" sz="2200" dirty="0"/>
          </a:p>
        </p:txBody>
      </p:sp>
      <p:pic>
        <p:nvPicPr>
          <p:cNvPr id="3" name="Imagen 2" descr="Ejemplo del patrón Observer. En la figura 2 se muestra el flujo de... | Download Scientific Diagram">
            <a:extLst>
              <a:ext uri="{FF2B5EF4-FFF2-40B4-BE49-F238E27FC236}">
                <a16:creationId xmlns:a16="http://schemas.microsoft.com/office/drawing/2014/main" id="{9875109B-2DC8-9ABE-D57B-E1903CCCE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678" y="3106994"/>
            <a:ext cx="4149593" cy="253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5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B3743-3453-D7DE-0E02-B1FB7D19D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99109-08FB-71C0-F5E5-2390D837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3</a:t>
            </a:fld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034F79-12DF-048A-9B31-F570B586B629}"/>
              </a:ext>
            </a:extLst>
          </p:cNvPr>
          <p:cNvSpPr txBox="1"/>
          <p:nvPr/>
        </p:nvSpPr>
        <p:spPr>
          <a:xfrm>
            <a:off x="484832" y="1624615"/>
            <a:ext cx="1060293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/>
              <a:t>En sistemas interactivos es habitual que varios componentes necesiten reaccionar ante un mismo cambio: enviar notificaciones. Implementarlo sin Observer conduce a acoplamientos fuertes donde el sujeto debe invocar explícitamente a cada interesado, lo que genera dependencias cíclicas y dificulta agregar nuevos suscriptores.</a:t>
            </a:r>
          </a:p>
          <a:p>
            <a:pPr algn="just"/>
            <a:endParaRPr lang="es-CO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822E7B-CF71-8F5C-6B9A-14A6693DD30D}"/>
              </a:ext>
            </a:extLst>
          </p:cNvPr>
          <p:cNvSpPr txBox="1"/>
          <p:nvPr/>
        </p:nvSpPr>
        <p:spPr>
          <a:xfrm>
            <a:off x="484832" y="808454"/>
            <a:ext cx="866312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Problema y contexto</a:t>
            </a:r>
            <a:endParaRPr lang="es-CO" sz="3600" b="1" dirty="0">
              <a:solidFill>
                <a:schemeClr val="accent3">
                  <a:lumMod val="75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6" name="Imagen 5" descr="Patrón%20Observador%20en%20.NET%20-%20pattern%20Observer">
            <a:extLst>
              <a:ext uri="{FF2B5EF4-FFF2-40B4-BE49-F238E27FC236}">
                <a16:creationId xmlns:a16="http://schemas.microsoft.com/office/drawing/2014/main" id="{F8BBC8F8-4764-045F-1D30-73BE58F9D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395" y="3429000"/>
            <a:ext cx="3652684" cy="265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234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DD480-B0CF-8187-26CB-F7DC09C5E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ABFB3C0-E6EF-2342-3E56-96F010F1D82E}"/>
              </a:ext>
            </a:extLst>
          </p:cNvPr>
          <p:cNvSpPr txBox="1"/>
          <p:nvPr/>
        </p:nvSpPr>
        <p:spPr>
          <a:xfrm>
            <a:off x="684461" y="729949"/>
            <a:ext cx="7816444" cy="67710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8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Solución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E19510-0FBE-1F8D-4704-20A49E2B0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4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E13B13-3B03-2941-25CB-8C7018610F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75"/>
          <a:stretch>
            <a:fillRect/>
          </a:stretch>
        </p:blipFill>
        <p:spPr>
          <a:xfrm>
            <a:off x="7968985" y="3887975"/>
            <a:ext cx="3793686" cy="17379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7A98F82-2C08-90F5-623E-D1E175571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299" y="2414140"/>
            <a:ext cx="3793686" cy="173799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94B2097-8E2C-4A4D-2611-C0CE940F9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24" y="1798690"/>
            <a:ext cx="3720532" cy="173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61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90CAF-7B0B-919F-1897-B01F9D596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3651296-3134-FCD7-6A29-0EE32132F977}"/>
              </a:ext>
            </a:extLst>
          </p:cNvPr>
          <p:cNvSpPr txBox="1"/>
          <p:nvPr/>
        </p:nvSpPr>
        <p:spPr>
          <a:xfrm>
            <a:off x="632053" y="648800"/>
            <a:ext cx="935014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Ventajas y desventajas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2EC10F-0DD4-18E2-2E46-0041BBB4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5</a:t>
            </a:fld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377157D-77C2-F3F8-2BC2-DE251FDDD1BC}"/>
              </a:ext>
            </a:extLst>
          </p:cNvPr>
          <p:cNvSpPr txBox="1"/>
          <p:nvPr/>
        </p:nvSpPr>
        <p:spPr>
          <a:xfrm>
            <a:off x="632052" y="1715981"/>
            <a:ext cx="869281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s-CO" dirty="0"/>
              <a:t>✔️ Puedes introducir nuevas clases suscriptoras sin tener que cambiar el código de la notificadora (y viceversa si hay una interfaz notificadora).</a:t>
            </a:r>
          </a:p>
          <a:p>
            <a:pPr lvl="0"/>
            <a:endParaRPr lang="es-CO" dirty="0"/>
          </a:p>
          <a:p>
            <a:pPr lvl="0"/>
            <a:r>
              <a:rPr lang="es-CO" dirty="0"/>
              <a:t>✔️ Puedes establecer relaciones entre objetos durante el tiempo de ejecución.</a:t>
            </a:r>
          </a:p>
          <a:p>
            <a:pPr algn="just"/>
            <a:endParaRPr lang="es-CO" sz="2400" dirty="0"/>
          </a:p>
          <a:p>
            <a:pPr lvl="0"/>
            <a:r>
              <a:rPr lang="es-CO" dirty="0"/>
              <a:t>❌ Los suscriptores son notificados en un orden aleatorio.</a:t>
            </a:r>
          </a:p>
          <a:p>
            <a:br>
              <a:rPr lang="es-CO" sz="2400" dirty="0"/>
            </a:br>
            <a:endParaRPr lang="es-CO" sz="24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9CD5E2-9D00-A14E-8851-5E5FF1380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322856"/>
            <a:ext cx="3850640" cy="240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05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C0B266-86BE-08DF-F6D3-EB5AD6C2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9202824-6B05-1F93-725A-B856600A8853}"/>
              </a:ext>
            </a:extLst>
          </p:cNvPr>
          <p:cNvSpPr txBox="1"/>
          <p:nvPr/>
        </p:nvSpPr>
        <p:spPr>
          <a:xfrm>
            <a:off x="584432" y="826634"/>
            <a:ext cx="65146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Diagrama de clases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9F7076A-2B1F-2AC4-09D7-2F076186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6</a:t>
            </a:fld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C77B9C9-DEFA-46BF-D7EE-630F2B512D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1" t="7739" b="29985"/>
          <a:stretch>
            <a:fillRect/>
          </a:stretch>
        </p:blipFill>
        <p:spPr>
          <a:xfrm>
            <a:off x="584432" y="1647071"/>
            <a:ext cx="7767088" cy="399981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38242E-8469-E28B-755E-83524ECD20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7" t="68551" r="78836" b="6232"/>
          <a:stretch>
            <a:fillRect/>
          </a:stretch>
        </p:blipFill>
        <p:spPr>
          <a:xfrm>
            <a:off x="9529290" y="4616714"/>
            <a:ext cx="1897109" cy="157188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A276A05-D08B-0667-B0CE-51D1E56B3E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643" t="69570" r="25488" b="4060"/>
          <a:stretch>
            <a:fillRect/>
          </a:stretch>
        </p:blipFill>
        <p:spPr>
          <a:xfrm>
            <a:off x="9233430" y="1306536"/>
            <a:ext cx="2374137" cy="157099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CD8D4FC-05E7-371D-CBA5-32C7C892D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553" t="69778" r="316" b="7315"/>
          <a:stretch>
            <a:fillRect/>
          </a:stretch>
        </p:blipFill>
        <p:spPr>
          <a:xfrm>
            <a:off x="9233431" y="3005671"/>
            <a:ext cx="2374137" cy="14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86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A13613-1D38-BB89-A6CA-0A310794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5DB7E76-0E0B-6BE0-1254-1D4790233CA5}"/>
              </a:ext>
            </a:extLst>
          </p:cNvPr>
          <p:cNvSpPr txBox="1"/>
          <p:nvPr/>
        </p:nvSpPr>
        <p:spPr>
          <a:xfrm>
            <a:off x="609668" y="924460"/>
            <a:ext cx="65146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Referencias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BCC51A15-B1CE-CC74-73E2-4311D7CD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7</a:t>
            </a:fld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B51FD38-2908-50FC-0ADE-B801246D77A5}"/>
              </a:ext>
            </a:extLst>
          </p:cNvPr>
          <p:cNvSpPr txBox="1"/>
          <p:nvPr/>
        </p:nvSpPr>
        <p:spPr>
          <a:xfrm>
            <a:off x="609668" y="1900535"/>
            <a:ext cx="1033265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600" dirty="0"/>
              <a:t>Shvets, A. (s.f.). Observer.Refactoring.Guru. Refactoring.Guru. </a:t>
            </a:r>
            <a:r>
              <a:rPr lang="es-CO" sz="1600" dirty="0">
                <a:hlinkClick r:id="rId3"/>
              </a:rPr>
              <a:t>https://refactoring.guru/es/design-patterns/observer</a:t>
            </a:r>
            <a:endParaRPr lang="es-CO" sz="1600" dirty="0"/>
          </a:p>
          <a:p>
            <a:endParaRPr lang="es-CO" sz="1700" dirty="0"/>
          </a:p>
          <a:p>
            <a:endParaRPr lang="es-CO" sz="1700" dirty="0"/>
          </a:p>
          <a:p>
            <a:r>
              <a:rPr lang="es-CO" sz="1600" dirty="0"/>
              <a:t>Tutoriales Programación Ya. (s.f.) 19 Observer (Observer) – Patrón de Comportamiento. Patrones de Diseño </a:t>
            </a:r>
            <a:r>
              <a:rPr lang="es-CO" sz="1600" dirty="0" err="1"/>
              <a:t>GoF</a:t>
            </a:r>
            <a:r>
              <a:rPr lang="es-CO" sz="1600" dirty="0"/>
              <a:t> Ya. https://tutorialesprogramacionya.com/disenosoftware/patronesdedisenogofcsharp/tema19.html</a:t>
            </a:r>
            <a:endParaRPr lang="es-CO" sz="1700" dirty="0"/>
          </a:p>
        </p:txBody>
      </p:sp>
    </p:spTree>
    <p:extLst>
      <p:ext uri="{BB962C8B-B14F-4D97-AF65-F5344CB8AC3E}">
        <p14:creationId xmlns:p14="http://schemas.microsoft.com/office/powerpoint/2010/main" val="190480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55E36-AD34-F05B-1F3C-2E25C882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6049E65-317A-DDB1-66D7-91DE264B4839}"/>
              </a:ext>
            </a:extLst>
          </p:cNvPr>
          <p:cNvSpPr/>
          <p:nvPr/>
        </p:nvSpPr>
        <p:spPr>
          <a:xfrm>
            <a:off x="2467897" y="2182761"/>
            <a:ext cx="6695768" cy="211393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EDDD69-4798-1314-83C4-099AD7A0A74F}"/>
              </a:ext>
            </a:extLst>
          </p:cNvPr>
          <p:cNvSpPr txBox="1"/>
          <p:nvPr/>
        </p:nvSpPr>
        <p:spPr>
          <a:xfrm>
            <a:off x="623761" y="797137"/>
            <a:ext cx="65146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3600" b="1" dirty="0">
                <a:solidFill>
                  <a:schemeClr val="accent3">
                    <a:lumMod val="75000"/>
                  </a:schemeClr>
                </a:solidFill>
                <a:latin typeface="Arial"/>
                <a:cs typeface="Arial"/>
              </a:rPr>
              <a:t>Implementación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1F7FC0F3-1879-FBF9-2FAA-9B1FFF5A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8</a:t>
            </a:fld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6C4416-3088-CE00-A4B1-EBC99AAF7BF5}"/>
              </a:ext>
            </a:extLst>
          </p:cNvPr>
          <p:cNvSpPr txBox="1"/>
          <p:nvPr/>
        </p:nvSpPr>
        <p:spPr>
          <a:xfrm>
            <a:off x="2664542" y="2467897"/>
            <a:ext cx="636638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/>
              <a:t>Código: </a:t>
            </a:r>
            <a:r>
              <a:rPr lang="es-CO" sz="1600" dirty="0"/>
              <a:t>https://github.com/Ximena986?tab=repositories</a:t>
            </a:r>
          </a:p>
          <a:p>
            <a:endParaRPr lang="es-CO" sz="1600" dirty="0"/>
          </a:p>
          <a:p>
            <a:r>
              <a:rPr lang="es-CO" sz="2000" b="1" dirty="0" err="1"/>
              <a:t>Kahoot</a:t>
            </a:r>
            <a:r>
              <a:rPr lang="es-CO" sz="2000" b="1" dirty="0"/>
              <a:t>: </a:t>
            </a:r>
            <a:r>
              <a:rPr lang="es-CO" sz="1600" dirty="0"/>
              <a:t>https://create.kahoot.it/share/patron-observer-conceptos-esenciales/71c18ee9-abb8-4f69-b57a-0213b6089a4f</a:t>
            </a:r>
          </a:p>
          <a:p>
            <a:endParaRPr lang="es-CO" sz="1600" dirty="0"/>
          </a:p>
          <a:p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3380040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DFB1B5-2A7E-C5F3-87AC-7F942ACE2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C5FCB-2CC7-48C1-940A-19DB903A0D2B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73601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283</Words>
  <Application>Microsoft Office PowerPoint</Application>
  <PresentationFormat>Panorámica</PresentationFormat>
  <Paragraphs>34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Mariana Correa Ramirez</dc:creator>
  <cp:lastModifiedBy>Ximena Arias</cp:lastModifiedBy>
  <cp:revision>195</cp:revision>
  <dcterms:created xsi:type="dcterms:W3CDTF">2026-01-14T13:42:52Z</dcterms:created>
  <dcterms:modified xsi:type="dcterms:W3CDTF">2026-09-25T22:38:23Z</dcterms:modified>
</cp:coreProperties>
</file>